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embeddedFontLst>
    <p:embeddedFont>
      <p:font typeface="Calibri" panose="020F0502020204030204" pitchFamily="34" charset="0"/>
      <p:regular r:id="rId10"/>
      <p:bold r:id="rId11"/>
      <p:italic r:id="rId12"/>
      <p:boldItalic r:id="rId13"/>
    </p:embeddedFont>
    <p:embeddedFont>
      <p:font typeface="Roboto" panose="02000000000000000000" pitchFamily="2" charset="0"/>
      <p:regular r:id="rId14"/>
      <p:bold r:id="rId15"/>
    </p:embeddedFont>
    <p:embeddedFont>
      <p:font typeface="Roboto Mono Medium" panose="020B0604020202020204" charset="0"/>
      <p:regular r:id="rId16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9" d="100"/>
          <a:sy n="149" d="100"/>
        </p:scale>
        <p:origin x="50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39184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3.png"/><Relationship Id="rId7" Type="http://schemas.openxmlformats.org/officeDocument/2006/relationships/image" Target="../media/image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63132" y="463823"/>
            <a:ext cx="4846737" cy="11626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Автоматизация ML-пайплайна для выявления пневмонии по рентгеновским снимкам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3863132" y="1789212"/>
            <a:ext cx="1454497" cy="223317"/>
          </a:xfrm>
          <a:prstGeom prst="roundRect">
            <a:avLst>
              <a:gd name="adj" fmla="val 6666"/>
            </a:avLst>
          </a:prstGeom>
          <a:solidFill>
            <a:srgbClr val="3D4D00"/>
          </a:solidFill>
          <a:ln/>
        </p:spPr>
      </p:sp>
      <p:sp>
        <p:nvSpPr>
          <p:cNvPr id="5" name="Text 2"/>
          <p:cNvSpPr/>
          <p:nvPr/>
        </p:nvSpPr>
        <p:spPr>
          <a:xfrm>
            <a:off x="3937546" y="1826419"/>
            <a:ext cx="1762869" cy="148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ПРОЕКТ И БИЗНЕС-ЗАДАЧА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3863132" y="2134567"/>
            <a:ext cx="4846737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Разработка автоматизированного ML-пайплайна для выявления пневмонии по рентгеновским снимкам грудной клетки с использованием глубокого обучения.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3773835" y="2628677"/>
            <a:ext cx="2450678" cy="2050926"/>
          </a:xfrm>
          <a:prstGeom prst="roundRect">
            <a:avLst>
              <a:gd name="adj" fmla="val 907"/>
            </a:avLst>
          </a:prstGeom>
          <a:solidFill>
            <a:srgbClr val="DCFF50"/>
          </a:solidFill>
          <a:ln/>
        </p:spPr>
      </p:sp>
      <p:sp>
        <p:nvSpPr>
          <p:cNvPr id="8" name="Text 5"/>
          <p:cNvSpPr/>
          <p:nvPr/>
        </p:nvSpPr>
        <p:spPr>
          <a:xfrm>
            <a:off x="3897809" y="2737172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Проблема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897809" y="3039517"/>
            <a:ext cx="2202731" cy="1378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Анализ рентгеновских снимков требует значительного времени врача</a:t>
            </a:r>
            <a:endParaRPr lang="en-US" sz="950" dirty="0"/>
          </a:p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Высокая нагрузка на медицинский персонал</a:t>
            </a:r>
            <a:endParaRPr lang="en-US" sz="950" dirty="0"/>
          </a:p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Риск пропуска патологий при большом потоке пациентов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442546" y="2737172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Бизнес-эффект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42546" y="3039517"/>
            <a:ext cx="2272085" cy="1602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Ускорение первичного скрининга пациентов</a:t>
            </a:r>
            <a:endParaRPr lang="en-US" sz="950" dirty="0"/>
          </a:p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Снижение нагрузки на врачей</a:t>
            </a:r>
            <a:endParaRPr lang="en-US" sz="950" dirty="0"/>
          </a:p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Уменьшение количества пропущенных случаев заболевания</a:t>
            </a:r>
            <a:endParaRPr lang="en-US" sz="950" dirty="0"/>
          </a:p>
          <a:p>
            <a:pPr marL="342900" indent="-342900" algn="l">
              <a:lnSpc>
                <a:spcPct val="125000"/>
              </a:lnSpc>
              <a:buSzPct val="100000"/>
              <a:buChar char="•"/>
            </a:pPr>
            <a:r>
              <a:rPr lang="en-US" sz="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Поддержка принятия врачебных решений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-25193" y="94062"/>
            <a:ext cx="3665691" cy="423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ct val="104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Данные и подготовка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335607" y="873027"/>
            <a:ext cx="5043785" cy="241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5216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2400598" y="1085552"/>
            <a:ext cx="913730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Train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49189" y="1257252"/>
            <a:ext cx="5043785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1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Изображений для обучения модели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35607" y="1516262"/>
            <a:ext cx="5043785" cy="241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16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2400598" y="1728788"/>
            <a:ext cx="913730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Validation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49189" y="1900488"/>
            <a:ext cx="5043785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1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Изображений для валидации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335607" y="2159497"/>
            <a:ext cx="5043785" cy="241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624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2400598" y="2372023"/>
            <a:ext cx="913730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Test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49189" y="2543723"/>
            <a:ext cx="5043785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1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Изображений для тестирования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335607" y="2802732"/>
            <a:ext cx="5043785" cy="241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2</a:t>
            </a:r>
            <a:endParaRPr lang="en-US" sz="1850" dirty="0"/>
          </a:p>
        </p:txBody>
      </p:sp>
      <p:sp>
        <p:nvSpPr>
          <p:cNvPr id="16" name="Text 13"/>
          <p:cNvSpPr/>
          <p:nvPr/>
        </p:nvSpPr>
        <p:spPr>
          <a:xfrm>
            <a:off x="2400598" y="3015258"/>
            <a:ext cx="913730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Класса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49189" y="3186958"/>
            <a:ext cx="5043785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1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NORMAL и PNEUMONIA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335607" y="3297064"/>
            <a:ext cx="1919139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ETL-процесс</a:t>
            </a:r>
            <a:endParaRPr lang="en-US" sz="1150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607" y="3536305"/>
            <a:ext cx="365447" cy="43852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38708" y="3536305"/>
            <a:ext cx="913730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Extract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738708" y="3746153"/>
            <a:ext cx="4640684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Загрузка изображений через PyTorch Dataset</a:t>
            </a:r>
            <a:endParaRPr lang="en-US" sz="80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607" y="3974827"/>
            <a:ext cx="365447" cy="43852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738708" y="3974827"/>
            <a:ext cx="913730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Transform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738708" y="4184675"/>
            <a:ext cx="4640684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CLAHE, Resize 224×224, нормализация, аугментации изображений</a:t>
            </a:r>
            <a:endParaRPr lang="en-US" sz="80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607" y="4413349"/>
            <a:ext cx="365447" cy="43852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38708" y="4413349"/>
            <a:ext cx="913730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Load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738708" y="4623197"/>
            <a:ext cx="4640684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Передача данных в DataLoader для обучения модели</a:t>
            </a:r>
            <a:endParaRPr lang="en-US" sz="800" dirty="0"/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8A6907AC-80F3-4470-82EB-66BF629B18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60764" y="271726"/>
            <a:ext cx="2085480" cy="1853982"/>
          </a:xfrm>
          <a:prstGeom prst="rect">
            <a:avLst/>
          </a:prstGeom>
        </p:spPr>
      </p:pic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11707F98-0CB1-4E76-A59E-9C640CA953E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85344" y="271726"/>
            <a:ext cx="2288509" cy="1853982"/>
          </a:xfrm>
          <a:prstGeom prst="rect">
            <a:avLst/>
          </a:prstGeom>
        </p:spPr>
      </p:pic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AE033B29-2B8D-49A2-BC13-D7BA184E047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84715" y="2520954"/>
            <a:ext cx="2130732" cy="1313752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8C01B993-1678-451F-AFE7-70A090D0171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43121" y="2391306"/>
            <a:ext cx="2130732" cy="144339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0640" y="413296"/>
            <a:ext cx="4989165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Архитектура ML-системы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480640" y="1108472"/>
            <a:ext cx="1669554" cy="255240"/>
          </a:xfrm>
          <a:prstGeom prst="roundRect">
            <a:avLst>
              <a:gd name="adj" fmla="val 6457"/>
            </a:avLst>
          </a:prstGeom>
          <a:solidFill>
            <a:srgbClr val="3D4D00"/>
          </a:solidFill>
          <a:ln/>
        </p:spPr>
      </p:sp>
      <p:sp>
        <p:nvSpPr>
          <p:cNvPr id="4" name="Text 2"/>
          <p:cNvSpPr/>
          <p:nvPr/>
        </p:nvSpPr>
        <p:spPr>
          <a:xfrm>
            <a:off x="563017" y="1149623"/>
            <a:ext cx="1962001" cy="172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8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ОБЩАЯ СХЕМА ПАЙПЛАЙНА</a:t>
            </a:r>
            <a:endParaRPr lang="en-US" sz="8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640" y="2143051"/>
            <a:ext cx="4349725" cy="195731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35893" y="2225847"/>
            <a:ext cx="761177" cy="117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7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Датасет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1135893" y="2376932"/>
            <a:ext cx="761177" cy="1851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Сбор и разметка данных</a:t>
            </a:r>
            <a:endParaRPr lang="en-US" sz="550" dirty="0"/>
          </a:p>
        </p:txBody>
      </p:sp>
      <p:sp>
        <p:nvSpPr>
          <p:cNvPr id="8" name="Text 5"/>
          <p:cNvSpPr/>
          <p:nvPr/>
        </p:nvSpPr>
        <p:spPr>
          <a:xfrm>
            <a:off x="1888706" y="3647565"/>
            <a:ext cx="765360" cy="117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7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ETL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1888706" y="3798650"/>
            <a:ext cx="765360" cy="2777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Извлечение, трансформация, загрузка</a:t>
            </a:r>
            <a:endParaRPr lang="en-US" sz="550" dirty="0"/>
          </a:p>
        </p:txBody>
      </p:sp>
      <p:sp>
        <p:nvSpPr>
          <p:cNvPr id="10" name="Text 7"/>
          <p:cNvSpPr/>
          <p:nvPr/>
        </p:nvSpPr>
        <p:spPr>
          <a:xfrm>
            <a:off x="2633154" y="2211209"/>
            <a:ext cx="761177" cy="117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7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Предобработка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2633154" y="2362294"/>
            <a:ext cx="761177" cy="1851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Аугментации и очистка</a:t>
            </a:r>
            <a:endParaRPr lang="en-US" sz="550" dirty="0"/>
          </a:p>
        </p:txBody>
      </p:sp>
      <p:sp>
        <p:nvSpPr>
          <p:cNvPr id="12" name="Text 9"/>
          <p:cNvSpPr/>
          <p:nvPr/>
        </p:nvSpPr>
        <p:spPr>
          <a:xfrm>
            <a:off x="3385967" y="3693832"/>
            <a:ext cx="761177" cy="117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7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Базовая CNN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3385967" y="3844917"/>
            <a:ext cx="761177" cy="1851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3000"/>
              </a:lnSpc>
              <a:buNone/>
            </a:pPr>
            <a:r>
              <a:rPr lang="en-US" sz="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Быстрый эталон модели</a:t>
            </a:r>
            <a:endParaRPr lang="en-US" sz="550" dirty="0"/>
          </a:p>
        </p:txBody>
      </p:sp>
      <p:sp>
        <p:nvSpPr>
          <p:cNvPr id="14" name="Text 11"/>
          <p:cNvSpPr/>
          <p:nvPr/>
        </p:nvSpPr>
        <p:spPr>
          <a:xfrm>
            <a:off x="5170140" y="1646337"/>
            <a:ext cx="2825651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Используемые технологии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5170140" y="2010519"/>
            <a:ext cx="1682428" cy="489124"/>
          </a:xfrm>
          <a:prstGeom prst="roundRect">
            <a:avLst>
              <a:gd name="adj" fmla="val 4212"/>
            </a:avLst>
          </a:prstGeom>
          <a:solidFill>
            <a:srgbClr val="404040"/>
          </a:solidFill>
          <a:ln/>
        </p:spPr>
      </p:sp>
      <p:sp>
        <p:nvSpPr>
          <p:cNvPr id="16" name="Text 13"/>
          <p:cNvSpPr/>
          <p:nvPr/>
        </p:nvSpPr>
        <p:spPr>
          <a:xfrm>
            <a:off x="5307434" y="2147813"/>
            <a:ext cx="1407840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Python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985546" y="2010519"/>
            <a:ext cx="1682502" cy="489124"/>
          </a:xfrm>
          <a:prstGeom prst="roundRect">
            <a:avLst>
              <a:gd name="adj" fmla="val 4212"/>
            </a:avLst>
          </a:prstGeom>
          <a:solidFill>
            <a:srgbClr val="404040"/>
          </a:solidFill>
          <a:ln/>
        </p:spPr>
      </p:sp>
      <p:sp>
        <p:nvSpPr>
          <p:cNvPr id="18" name="Text 15"/>
          <p:cNvSpPr/>
          <p:nvPr/>
        </p:nvSpPr>
        <p:spPr>
          <a:xfrm>
            <a:off x="7122840" y="2147813"/>
            <a:ext cx="1407914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PyTorch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5170140" y="2632621"/>
            <a:ext cx="1682428" cy="703659"/>
          </a:xfrm>
          <a:prstGeom prst="roundRect">
            <a:avLst>
              <a:gd name="adj" fmla="val 2928"/>
            </a:avLst>
          </a:prstGeom>
          <a:solidFill>
            <a:srgbClr val="404040"/>
          </a:solidFill>
          <a:ln/>
        </p:spPr>
      </p:sp>
      <p:sp>
        <p:nvSpPr>
          <p:cNvPr id="20" name="Text 17"/>
          <p:cNvSpPr/>
          <p:nvPr/>
        </p:nvSpPr>
        <p:spPr>
          <a:xfrm>
            <a:off x="5307434" y="2769915"/>
            <a:ext cx="1407840" cy="429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Albumentations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6985546" y="2632621"/>
            <a:ext cx="1682502" cy="703659"/>
          </a:xfrm>
          <a:prstGeom prst="roundRect">
            <a:avLst>
              <a:gd name="adj" fmla="val 2928"/>
            </a:avLst>
          </a:prstGeom>
          <a:solidFill>
            <a:srgbClr val="404040"/>
          </a:solidFill>
          <a:ln/>
        </p:spPr>
      </p:sp>
      <p:sp>
        <p:nvSpPr>
          <p:cNvPr id="22" name="Text 19"/>
          <p:cNvSpPr/>
          <p:nvPr/>
        </p:nvSpPr>
        <p:spPr>
          <a:xfrm>
            <a:off x="7122840" y="2769915"/>
            <a:ext cx="1407914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Optuna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5170140" y="3469258"/>
            <a:ext cx="1682428" cy="489124"/>
          </a:xfrm>
          <a:prstGeom prst="roundRect">
            <a:avLst>
              <a:gd name="adj" fmla="val 4212"/>
            </a:avLst>
          </a:prstGeom>
          <a:solidFill>
            <a:srgbClr val="404040"/>
          </a:solidFill>
          <a:ln/>
        </p:spPr>
      </p:sp>
      <p:sp>
        <p:nvSpPr>
          <p:cNvPr id="24" name="Text 21"/>
          <p:cNvSpPr/>
          <p:nvPr/>
        </p:nvSpPr>
        <p:spPr>
          <a:xfrm>
            <a:off x="5307434" y="3606552"/>
            <a:ext cx="1407840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MLflow</a:t>
            </a:r>
            <a:endParaRPr lang="en-US" sz="1350" dirty="0"/>
          </a:p>
        </p:txBody>
      </p:sp>
      <p:sp>
        <p:nvSpPr>
          <p:cNvPr id="25" name="Shape 22"/>
          <p:cNvSpPr/>
          <p:nvPr/>
        </p:nvSpPr>
        <p:spPr>
          <a:xfrm>
            <a:off x="6985546" y="3469258"/>
            <a:ext cx="1682502" cy="489124"/>
          </a:xfrm>
          <a:prstGeom prst="roundRect">
            <a:avLst>
              <a:gd name="adj" fmla="val 4212"/>
            </a:avLst>
          </a:prstGeom>
          <a:solidFill>
            <a:srgbClr val="404040"/>
          </a:solidFill>
          <a:ln/>
        </p:spPr>
      </p:sp>
      <p:sp>
        <p:nvSpPr>
          <p:cNvPr id="26" name="Text 23"/>
          <p:cNvSpPr/>
          <p:nvPr/>
        </p:nvSpPr>
        <p:spPr>
          <a:xfrm>
            <a:off x="7122840" y="3606552"/>
            <a:ext cx="1407914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Docker</a:t>
            </a:r>
            <a:endParaRPr lang="en-US" sz="1350" dirty="0"/>
          </a:p>
        </p:txBody>
      </p:sp>
      <p:sp>
        <p:nvSpPr>
          <p:cNvPr id="27" name="Shape 24"/>
          <p:cNvSpPr/>
          <p:nvPr/>
        </p:nvSpPr>
        <p:spPr>
          <a:xfrm>
            <a:off x="5170140" y="4091360"/>
            <a:ext cx="3497907" cy="489124"/>
          </a:xfrm>
          <a:prstGeom prst="roundRect">
            <a:avLst>
              <a:gd name="adj" fmla="val 4212"/>
            </a:avLst>
          </a:prstGeom>
          <a:solidFill>
            <a:srgbClr val="404040"/>
          </a:solidFill>
          <a:ln/>
        </p:spPr>
      </p:sp>
      <p:sp>
        <p:nvSpPr>
          <p:cNvPr id="28" name="Text 25"/>
          <p:cNvSpPr/>
          <p:nvPr/>
        </p:nvSpPr>
        <p:spPr>
          <a:xfrm>
            <a:off x="5307434" y="4228654"/>
            <a:ext cx="17166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GitHub Actions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8066" y="333301"/>
            <a:ext cx="3336801" cy="3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AutoML и MLOps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8066" y="927125"/>
            <a:ext cx="3134544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Автоматизация обучения с Optuna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8066" y="1200596"/>
            <a:ext cx="3833366" cy="500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Для подбора гиперпараметров использовалась библиотека </a:t>
            </a:r>
            <a:r>
              <a:rPr lang="en-US" sz="9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Optuna</a:t>
            </a:r>
            <a:r>
              <a:rPr lang="en-US" sz="9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Автоматический поиск оптимальных значений позволил существенно улучшить качество модели без ручной настройки.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8066" y="1795090"/>
            <a:ext cx="2270894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Подбираемые параметры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8066" y="2068562"/>
            <a:ext cx="3833366" cy="766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1000"/>
              </a:lnSpc>
              <a:buSzPct val="100000"/>
              <a:buChar char="•"/>
            </a:pPr>
            <a:r>
              <a:rPr lang="en-US" sz="9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Learning Rate</a:t>
            </a:r>
            <a:endParaRPr lang="en-US" sz="900" dirty="0"/>
          </a:p>
          <a:p>
            <a:pPr marL="342900" indent="-342900" algn="l">
              <a:lnSpc>
                <a:spcPct val="121000"/>
              </a:lnSpc>
              <a:buSzPct val="100000"/>
              <a:buChar char="•"/>
            </a:pPr>
            <a:r>
              <a:rPr lang="en-US" sz="9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Dropout</a:t>
            </a:r>
            <a:endParaRPr lang="en-US" sz="900" dirty="0"/>
          </a:p>
          <a:p>
            <a:pPr marL="342900" indent="-342900" algn="l">
              <a:lnSpc>
                <a:spcPct val="121000"/>
              </a:lnSpc>
              <a:buSzPct val="100000"/>
              <a:buChar char="•"/>
            </a:pPr>
            <a:r>
              <a:rPr lang="en-US" sz="9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Weight Decay</a:t>
            </a:r>
            <a:endParaRPr lang="en-US" sz="900" dirty="0"/>
          </a:p>
          <a:p>
            <a:pPr marL="342900" indent="-342900" algn="l">
              <a:lnSpc>
                <a:spcPct val="121000"/>
              </a:lnSpc>
              <a:buSzPct val="100000"/>
              <a:buChar char="•"/>
            </a:pPr>
            <a:r>
              <a:rPr lang="en-US" sz="9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Batch Size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8066" y="2928268"/>
            <a:ext cx="2702719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Лучшие найденные параметры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8066" y="3213422"/>
            <a:ext cx="3833366" cy="1472208"/>
          </a:xfrm>
          <a:prstGeom prst="roundRect">
            <a:avLst>
              <a:gd name="adj" fmla="val 1174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7947" y="3279056"/>
            <a:ext cx="2136502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Параметр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632249" y="3279056"/>
            <a:ext cx="2136502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Значение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17947" y="3572545"/>
            <a:ext cx="2136502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Learning Rate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632249" y="3572545"/>
            <a:ext cx="2136502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DCFF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7.889e-05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17947" y="3866034"/>
            <a:ext cx="2136502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Dropout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632249" y="3866034"/>
            <a:ext cx="2136502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DCFF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0.233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17947" y="4159523"/>
            <a:ext cx="2136502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Weight Decay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632249" y="4159523"/>
            <a:ext cx="2136502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DCFF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8.741e-06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17947" y="4453012"/>
            <a:ext cx="2136502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Batch Size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632249" y="4453012"/>
            <a:ext cx="2136502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DCFF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17182" y="927125"/>
            <a:ext cx="2530004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MLOps-компоненты проекта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889450" y="1341686"/>
            <a:ext cx="1439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MLflow Tracking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889450" y="1615157"/>
            <a:ext cx="1568202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Отслеживание экспериментов и метрик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6852865" y="1341686"/>
            <a:ext cx="1568276" cy="3598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Docker Containerization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852865" y="1795090"/>
            <a:ext cx="1568276" cy="500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Воспроизводимое окружение для обучения и инференса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4889450" y="2648396"/>
            <a:ext cx="1439763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Pytest Testing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4889450" y="2921868"/>
            <a:ext cx="1568202" cy="500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Автоматическое тестирование компонентов пайплайна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6852865" y="2648396"/>
            <a:ext cx="1568276" cy="3598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GitHub Actions CI/CD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6852865" y="3101801"/>
            <a:ext cx="1568276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Непрерывная интеграция и доставка</a:t>
            </a:r>
            <a:endParaRPr lang="en-US" sz="900" dirty="0"/>
          </a:p>
        </p:txBody>
      </p:sp>
      <p:sp>
        <p:nvSpPr>
          <p:cNvPr id="33" name="Text 26"/>
          <p:cNvSpPr/>
          <p:nvPr/>
        </p:nvSpPr>
        <p:spPr>
          <a:xfrm>
            <a:off x="4889450" y="3788122"/>
            <a:ext cx="1568202" cy="3598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Grad-CAM Explainability</a:t>
            </a:r>
            <a:endParaRPr lang="en-US" sz="1100" dirty="0"/>
          </a:p>
        </p:txBody>
      </p:sp>
      <p:sp>
        <p:nvSpPr>
          <p:cNvPr id="34" name="Text 27"/>
          <p:cNvSpPr/>
          <p:nvPr/>
        </p:nvSpPr>
        <p:spPr>
          <a:xfrm>
            <a:off x="4889450" y="4241527"/>
            <a:ext cx="1568202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Визуализация решений нейронной сети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6629" y="130560"/>
            <a:ext cx="226397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Результаты модели</a:t>
            </a:r>
            <a:endParaRPr lang="en-US" sz="2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629" y="564984"/>
            <a:ext cx="4890939" cy="27388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6631" y="3668634"/>
            <a:ext cx="13431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Матрица ошибок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186631" y="3887294"/>
            <a:ext cx="4890939" cy="544190"/>
          </a:xfrm>
          <a:prstGeom prst="roundRect">
            <a:avLst>
              <a:gd name="adj" fmla="val 2472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62831" y="3956255"/>
            <a:ext cx="1939900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550" dirty="0"/>
          </a:p>
        </p:txBody>
      </p:sp>
      <p:sp>
        <p:nvSpPr>
          <p:cNvPr id="9" name="Text 6"/>
          <p:cNvSpPr/>
          <p:nvPr/>
        </p:nvSpPr>
        <p:spPr>
          <a:xfrm>
            <a:off x="1891978" y="3956255"/>
            <a:ext cx="1937519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Предсказано: NORMAL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3518744" y="3956255"/>
            <a:ext cx="1939900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Предсказано: PNEUMONIA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262831" y="4098014"/>
            <a:ext cx="1939900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Факт: NORMAL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891978" y="4098014"/>
            <a:ext cx="1937519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TN = 120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3518744" y="4098014"/>
            <a:ext cx="1939900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FP = 114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262831" y="4239773"/>
            <a:ext cx="1939900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Факт: PNEUMONIA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891978" y="4239773"/>
            <a:ext cx="1937519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FN = 3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3518744" y="4239773"/>
            <a:ext cx="1939900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TP = 387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257473" y="4646032"/>
            <a:ext cx="4890938" cy="335714"/>
          </a:xfrm>
          <a:prstGeom prst="roundRect">
            <a:avLst>
              <a:gd name="adj" fmla="val 3949"/>
            </a:avLst>
          </a:prstGeom>
          <a:solidFill>
            <a:srgbClr val="183A13"/>
          </a:solidFill>
          <a:ln/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314" y="4734584"/>
            <a:ext cx="88553" cy="7084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87709" y="4695591"/>
            <a:ext cx="4589859" cy="170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Ключевой результат:</a:t>
            </a:r>
            <a:r>
              <a:rPr lang="en-US" sz="8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Модель пропустила только </a:t>
            </a:r>
            <a:r>
              <a:rPr lang="en-US" sz="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 случая пневмонии</a:t>
            </a:r>
            <a:r>
              <a:rPr lang="en-US" sz="8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из 390 пациентов с заболеванием — критически важный показатель для медицинской диагностики. </a:t>
            </a:r>
            <a:endParaRPr lang="en-US" sz="800" dirty="0"/>
          </a:p>
        </p:txBody>
      </p:sp>
      <p:sp>
        <p:nvSpPr>
          <p:cNvPr id="23" name="Text 18"/>
          <p:cNvSpPr/>
          <p:nvPr/>
        </p:nvSpPr>
        <p:spPr>
          <a:xfrm>
            <a:off x="2126531" y="5638205"/>
            <a:ext cx="2423294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Выявление реальных случаев пневмонии</a:t>
            </a:r>
            <a:endParaRPr lang="en-US" sz="550" dirty="0"/>
          </a:p>
        </p:txBody>
      </p:sp>
      <p:sp>
        <p:nvSpPr>
          <p:cNvPr id="27" name="Text 21"/>
          <p:cNvSpPr/>
          <p:nvPr/>
        </p:nvSpPr>
        <p:spPr>
          <a:xfrm>
            <a:off x="4594101" y="5638205"/>
            <a:ext cx="2423368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Общее качество классификации</a:t>
            </a:r>
            <a:endParaRPr lang="en-US" sz="550" dirty="0"/>
          </a:p>
        </p:txBody>
      </p:sp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B5E52D81-E40C-4901-BCDD-739FAB4B592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8255" t="5630" r="9528"/>
          <a:stretch/>
        </p:blipFill>
        <p:spPr>
          <a:xfrm>
            <a:off x="5805785" y="241288"/>
            <a:ext cx="3042824" cy="2619462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7C543AF1-FEDD-4448-8FEB-E60B6D6F6E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4356" y="3381768"/>
            <a:ext cx="3579619" cy="919211"/>
          </a:xfrm>
          <a:prstGeom prst="rect">
            <a:avLst/>
          </a:prstGeom>
        </p:spPr>
      </p:pic>
      <p:sp>
        <p:nvSpPr>
          <p:cNvPr id="36" name="Text 3">
            <a:extLst>
              <a:ext uri="{FF2B5EF4-FFF2-40B4-BE49-F238E27FC236}">
                <a16:creationId xmlns:a16="http://schemas.microsoft.com/office/drawing/2014/main" id="{5EFD8A5E-0C21-4CE2-9C07-52FFDDE9D302}"/>
              </a:ext>
            </a:extLst>
          </p:cNvPr>
          <p:cNvSpPr/>
          <p:nvPr/>
        </p:nvSpPr>
        <p:spPr>
          <a:xfrm>
            <a:off x="5418206" y="4466021"/>
            <a:ext cx="3430403" cy="3357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ru-RU" sz="1300" dirty="0">
                <a:solidFill>
                  <a:schemeClr val="bg1"/>
                </a:solidFill>
              </a:rPr>
              <a:t>Отчетные скриншоты находятся в папке /</a:t>
            </a:r>
            <a:r>
              <a:rPr lang="en-US" sz="1300" dirty="0">
                <a:solidFill>
                  <a:schemeClr val="bg1"/>
                </a:solidFill>
              </a:rPr>
              <a:t>outputs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95362" y="325934"/>
            <a:ext cx="4924276" cy="705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Интерпретируемость и мониторинг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395362" y="1256779"/>
            <a:ext cx="2575024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Explainable AI — Grad-CAM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395362" y="1523256"/>
            <a:ext cx="2324323" cy="9742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Использован алгоритм </a:t>
            </a:r>
            <a:r>
              <a:rPr lang="en-US" sz="8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Grad-CAM</a:t>
            </a:r>
            <a:r>
              <a:rPr lang="en-US" sz="8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который позволяет визуализировать области изображения, на которые обращает внимание нейронная сеть при постановке диагноза. Это делает решения модели прозрачными и понятными для врачей.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395362" y="2598688"/>
            <a:ext cx="2324323" cy="867817"/>
          </a:xfrm>
          <a:prstGeom prst="roundRect">
            <a:avLst>
              <a:gd name="adj" fmla="val 1953"/>
            </a:avLst>
          </a:prstGeom>
          <a:solidFill>
            <a:srgbClr val="022349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322" y="2760018"/>
            <a:ext cx="141163" cy="11296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62446" y="2707853"/>
            <a:ext cx="1844278" cy="649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Grad-CAM формирует тепловую карту поверх рентгеновского снимка, выделяя зоны, наиболее значимые для классификации.</a:t>
            </a: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3000077" y="1256779"/>
            <a:ext cx="2405583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Мониторинг через MLflow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3000077" y="1469231"/>
            <a:ext cx="2744465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Инфраструктурный мониторинг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3000077" y="1735708"/>
            <a:ext cx="2324323" cy="7439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Время обучения</a:t>
            </a:r>
            <a:endParaRPr lang="en-US" sz="850" dirty="0"/>
          </a:p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Использование GPU</a:t>
            </a:r>
            <a:endParaRPr lang="en-US" sz="850" dirty="0"/>
          </a:p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Потребление памяти</a:t>
            </a:r>
            <a:endParaRPr lang="en-US" sz="850" dirty="0"/>
          </a:p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Работа контейнеров Docker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395362" y="3668911"/>
            <a:ext cx="1581448" cy="1148581"/>
          </a:xfrm>
          <a:prstGeom prst="roundRect">
            <a:avLst>
              <a:gd name="adj" fmla="val 1475"/>
            </a:avLst>
          </a:prstGeom>
          <a:solidFill>
            <a:srgbClr val="212121"/>
          </a:solidFill>
          <a:ln w="14288">
            <a:solidFill>
              <a:srgbClr val="595959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22610" y="3796159"/>
            <a:ext cx="1326952" cy="353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Метрики качества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522610" y="4203129"/>
            <a:ext cx="1326952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Loss, Accuracy, Precision, Recall, F1-score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2066776" y="3668911"/>
            <a:ext cx="1581448" cy="1148581"/>
          </a:xfrm>
          <a:prstGeom prst="roundRect">
            <a:avLst>
              <a:gd name="adj" fmla="val 1475"/>
            </a:avLst>
          </a:prstGeom>
          <a:solidFill>
            <a:srgbClr val="212121"/>
          </a:solidFill>
          <a:ln w="14288">
            <a:solidFill>
              <a:srgbClr val="595959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2194024" y="3796159"/>
            <a:ext cx="1326952" cy="353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Параметры обучения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2194024" y="4203129"/>
            <a:ext cx="1326952" cy="487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Гиперпараметры и конфигурация каждого эксперимента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3738190" y="3668911"/>
            <a:ext cx="1581448" cy="1148581"/>
          </a:xfrm>
          <a:prstGeom prst="roundRect">
            <a:avLst>
              <a:gd name="adj" fmla="val 1475"/>
            </a:avLst>
          </a:prstGeom>
          <a:solidFill>
            <a:srgbClr val="212121"/>
          </a:solidFill>
          <a:ln w="14288">
            <a:solidFill>
              <a:srgbClr val="595959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865438" y="3796159"/>
            <a:ext cx="1326952" cy="353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Артефакты модели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3865438" y="4203129"/>
            <a:ext cx="1326952" cy="487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Веса, чекпоинты и версии моделей в реестре</a:t>
            </a:r>
            <a:endParaRPr lang="en-US" sz="850" dirty="0"/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5DB8637E-30BA-4548-BD87-C69ECAB8A4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2735" y="2107666"/>
            <a:ext cx="2785903" cy="1888748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95DB5E47-8C73-4907-A842-1D3F799FA7E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8846" t="8139"/>
          <a:stretch/>
        </p:blipFill>
        <p:spPr>
          <a:xfrm>
            <a:off x="5600030" y="133570"/>
            <a:ext cx="3442337" cy="1796512"/>
          </a:xfrm>
          <a:prstGeom prst="rect">
            <a:avLst/>
          </a:prstGeom>
        </p:spPr>
      </p:pic>
      <p:sp>
        <p:nvSpPr>
          <p:cNvPr id="27" name="Text 3">
            <a:extLst>
              <a:ext uri="{FF2B5EF4-FFF2-40B4-BE49-F238E27FC236}">
                <a16:creationId xmlns:a16="http://schemas.microsoft.com/office/drawing/2014/main" id="{3AFE77D5-F5E3-4489-9887-F6940575BF0A}"/>
              </a:ext>
            </a:extLst>
          </p:cNvPr>
          <p:cNvSpPr/>
          <p:nvPr/>
        </p:nvSpPr>
        <p:spPr>
          <a:xfrm>
            <a:off x="5705180" y="4279801"/>
            <a:ext cx="3232036" cy="3357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ru-RU" sz="1200" dirty="0">
                <a:solidFill>
                  <a:schemeClr val="bg1"/>
                </a:solidFill>
              </a:rPr>
              <a:t>Отчетные скриншоты находятся в папке /</a:t>
            </a:r>
            <a:r>
              <a:rPr lang="en-US" sz="1200" dirty="0">
                <a:solidFill>
                  <a:schemeClr val="bg1"/>
                </a:solidFill>
              </a:rPr>
              <a:t>outputs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5219" y="343272"/>
            <a:ext cx="3447604" cy="373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Итоги проекта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445219" y="757386"/>
            <a:ext cx="2250579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Что было реализовано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445219" y="1095598"/>
            <a:ext cx="239167" cy="1494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Roboto Mono Light" pitchFamily="34" charset="0"/>
                <a:ea typeface="Roboto Mono Light" pitchFamily="34" charset="-122"/>
                <a:cs typeface="Roboto Mono Light" pitchFamily="34" charset="-120"/>
              </a:rPr>
              <a:t>01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45219" y="1284536"/>
            <a:ext cx="4076254" cy="14288"/>
          </a:xfrm>
          <a:prstGeom prst="rect">
            <a:avLst/>
          </a:prstGeom>
          <a:solidFill>
            <a:srgbClr val="DCFF50"/>
          </a:solidFill>
          <a:ln/>
        </p:spPr>
      </p:sp>
      <p:sp>
        <p:nvSpPr>
          <p:cNvPr id="6" name="Text 4"/>
          <p:cNvSpPr/>
          <p:nvPr/>
        </p:nvSpPr>
        <p:spPr>
          <a:xfrm>
            <a:off x="445219" y="1372865"/>
            <a:ext cx="2779737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ETL для медицинских изображений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45219" y="1620217"/>
            <a:ext cx="4076254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Полный пайплайн загрузки, трансформации и подачи данных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622378" y="1095598"/>
            <a:ext cx="239167" cy="1494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Roboto Mono Light" pitchFamily="34" charset="0"/>
                <a:ea typeface="Roboto Mono Light" pitchFamily="34" charset="-122"/>
                <a:cs typeface="Roboto Mono Light" pitchFamily="34" charset="-120"/>
              </a:rPr>
              <a:t>02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622378" y="1284536"/>
            <a:ext cx="4076328" cy="14288"/>
          </a:xfrm>
          <a:prstGeom prst="rect">
            <a:avLst/>
          </a:prstGeom>
          <a:solidFill>
            <a:srgbClr val="DCFF50"/>
          </a:solidFill>
          <a:ln/>
        </p:spPr>
      </p:sp>
      <p:sp>
        <p:nvSpPr>
          <p:cNvPr id="10" name="Text 8"/>
          <p:cNvSpPr/>
          <p:nvPr/>
        </p:nvSpPr>
        <p:spPr>
          <a:xfrm>
            <a:off x="4622378" y="1372865"/>
            <a:ext cx="3138413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Собственная CNN + Transfer Learning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622378" y="1620217"/>
            <a:ext cx="4076328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Baseline CNN, ResNet18 и EfficientNet-B0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45219" y="1987153"/>
            <a:ext cx="239167" cy="1494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Roboto Mono Light" pitchFamily="34" charset="0"/>
                <a:ea typeface="Roboto Mono Light" pitchFamily="34" charset="-122"/>
                <a:cs typeface="Roboto Mono Light" pitchFamily="34" charset="-120"/>
              </a:rPr>
              <a:t>03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45219" y="2176090"/>
            <a:ext cx="4076254" cy="14288"/>
          </a:xfrm>
          <a:prstGeom prst="rect">
            <a:avLst/>
          </a:prstGeom>
          <a:solidFill>
            <a:srgbClr val="DCFF50"/>
          </a:solidFill>
          <a:ln/>
        </p:spPr>
      </p:sp>
      <p:sp>
        <p:nvSpPr>
          <p:cNvPr id="14" name="Text 12"/>
          <p:cNvSpPr/>
          <p:nvPr/>
        </p:nvSpPr>
        <p:spPr>
          <a:xfrm>
            <a:off x="445219" y="2264420"/>
            <a:ext cx="14952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AutoML с Optuna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45219" y="2511772"/>
            <a:ext cx="4076254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Автоматический подбор оптимальных гиперпараметров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622378" y="1987153"/>
            <a:ext cx="239167" cy="1494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Roboto Mono Light" pitchFamily="34" charset="0"/>
                <a:ea typeface="Roboto Mono Light" pitchFamily="34" charset="-122"/>
                <a:cs typeface="Roboto Mono Light" pitchFamily="34" charset="-120"/>
              </a:rPr>
              <a:t>04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22378" y="2176090"/>
            <a:ext cx="4076328" cy="14288"/>
          </a:xfrm>
          <a:prstGeom prst="rect">
            <a:avLst/>
          </a:prstGeom>
          <a:solidFill>
            <a:srgbClr val="DCFF50"/>
          </a:solidFill>
          <a:ln/>
        </p:spPr>
      </p:sp>
      <p:sp>
        <p:nvSpPr>
          <p:cNvPr id="18" name="Text 16"/>
          <p:cNvSpPr/>
          <p:nvPr/>
        </p:nvSpPr>
        <p:spPr>
          <a:xfrm>
            <a:off x="4622378" y="2264420"/>
            <a:ext cx="152437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Полный MLOps-стек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622378" y="2511772"/>
            <a:ext cx="4076328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MLflow, Docker, GitHub Actions CI/CD, Pytest, Grad-CAM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45219" y="2929161"/>
            <a:ext cx="2071241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Итоговый результат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45219" y="3267373"/>
            <a:ext cx="8698781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На независимой тестовой выборке достигнуты выдающиеся показатели: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45219" y="3616970"/>
            <a:ext cx="4063678" cy="394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1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0.9923</a:t>
            </a:r>
            <a:endParaRPr lang="en-US" sz="3100" dirty="0"/>
          </a:p>
        </p:txBody>
      </p:sp>
      <p:sp>
        <p:nvSpPr>
          <p:cNvPr id="23" name="Text 21"/>
          <p:cNvSpPr/>
          <p:nvPr/>
        </p:nvSpPr>
        <p:spPr>
          <a:xfrm>
            <a:off x="1729457" y="4147170"/>
            <a:ext cx="14952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Recall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635029" y="3616970"/>
            <a:ext cx="4063678" cy="394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1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0.9473</a:t>
            </a:r>
            <a:endParaRPr lang="en-US" sz="3100" dirty="0"/>
          </a:p>
        </p:txBody>
      </p:sp>
      <p:sp>
        <p:nvSpPr>
          <p:cNvPr id="25" name="Text 23"/>
          <p:cNvSpPr/>
          <p:nvPr/>
        </p:nvSpPr>
        <p:spPr>
          <a:xfrm>
            <a:off x="5919267" y="4147170"/>
            <a:ext cx="14952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ROC-AUC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45219" y="4447505"/>
            <a:ext cx="8253487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Разработанное решение может использоваться как </a:t>
            </a:r>
            <a:r>
              <a:rPr lang="en-US" sz="9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система поддержки принятия решений</a:t>
            </a:r>
            <a:r>
              <a:rPr lang="en-US" sz="9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при анализе рентгеновских снимков и является примером полного производственного MLOps-пайплайна.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499</Words>
  <Application>Microsoft Office PowerPoint</Application>
  <PresentationFormat>Экран (16:9)</PresentationFormat>
  <Paragraphs>139</Paragraphs>
  <Slides>7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3" baseType="lpstr">
      <vt:lpstr>Roboto Mono Light</vt:lpstr>
      <vt:lpstr>Arial</vt:lpstr>
      <vt:lpstr>Calibri</vt:lpstr>
      <vt:lpstr>Roboto Mono Medium</vt:lpstr>
      <vt:lpstr>Roboto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lastModifiedBy>Пользователь</cp:lastModifiedBy>
  <cp:revision>4</cp:revision>
  <dcterms:created xsi:type="dcterms:W3CDTF">2026-06-05T18:58:49Z</dcterms:created>
  <dcterms:modified xsi:type="dcterms:W3CDTF">2026-06-05T19:19:30Z</dcterms:modified>
</cp:coreProperties>
</file>